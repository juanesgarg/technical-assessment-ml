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we do not rank by dollars lost. We rank by how unusual today is for each trader. Example on the right: T-006 lost four times more money than T-011, but T-006 swings that much on a normal day; T-011 never does. Only sessions before today are used to define normal, so today’s loss cannot water down its own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 row like this: T-020 is down $2,398, six times their usual daily swing, trading almost twice their usual volume, and it is already their worst session. Rows 2 and 3 combine several accounts of the same person, because the firm absorbs the loss across all of them. The three new traders are not ignored: they are listed separately because the method needs history to say what is unusual.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1731"/>
            <a:ext cx="8890000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50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5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09019"/>
            <a:ext cx="10566400" cy="373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4A4F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1731"/>
            <a:ext cx="8890000" cy="852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50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5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309019"/>
            <a:ext cx="10566400" cy="373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4A4F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9156700" cy="262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339" b="1" spc="100" kern="0" dirty="0">
                <a:solidFill>
                  <a:srgbClr val="2F549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REVIEW · SESSION OF 25 AUG</a:t>
            </a:r>
            <a:endParaRPr lang="en-US" sz="133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1731"/>
            <a:ext cx="9156700" cy="877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55"/>
              </a:lnSpc>
              <a:buNone/>
            </a:pPr>
            <a:r>
              <a:rPr lang="en-US" sz="3050" b="1" i="0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bad day is measured against that trader’s own normal</a:t>
            </a:r>
            <a:endParaRPr lang="en-US" sz="3050" dirty="0"/>
          </a:p>
        </p:txBody>
      </p:sp>
      <p:sp>
        <p:nvSpPr>
          <p:cNvPr id="4" name="Text 2"/>
          <p:cNvSpPr/>
          <p:nvPr/>
        </p:nvSpPr>
        <p:spPr>
          <a:xfrm>
            <a:off x="812800" y="2309019"/>
            <a:ext cx="366268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Their normal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603659"/>
            <a:ext cx="366268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F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Typical net P&amp;L and typical daily swing from each trader’s previous 11 sessions, all accounts combined, after commissions.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526949"/>
            <a:ext cx="366268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Today vs. normal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821589"/>
            <a:ext cx="3662680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F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“usual swings” below normal today’s result is. Losing $700 is alarming for someone who moves $60 a day, routine for someone who moves $2,000.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984909"/>
            <a:ext cx="366268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Rank the ten worst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5279549"/>
            <a:ext cx="3662680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4F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name comes with plain evidence: size vs. normal, and whether today is worse than any day before.</a:t>
            </a:r>
            <a:endParaRPr lang="en-US" sz="1400" dirty="0"/>
          </a:p>
        </p:txBody>
      </p:sp>
      <p:pic>
        <p:nvPicPr>
          <p:cNvPr id="10" name="Image 0" descr="Bar charts of net P&amp;L per session. T-011 lost 759 USD today, 13 times its usual swing. T-006 lost 3,214 USD, under 2 times its usual swing.">    </p:cNvPr>
          <p:cNvPicPr>
            <a:picLocks noChangeAspect="1"/>
          </p:cNvPicPr>
          <p:nvPr/>
        </p:nvPicPr>
        <p:blipFill>
          <a:blip r:embed="rId1"/>
          <a:srcRect l="-15" r="-15" t="0" b="0"/>
          <a:stretch/>
        </p:blipFill>
        <p:spPr>
          <a:xfrm>
            <a:off x="4724400" y="2309019"/>
            <a:ext cx="6654800" cy="2882900"/>
          </a:xfrm>
          <a:prstGeom prst="roundRect">
            <a:avLst>
              <a:gd name="adj" fmla="val 2643"/>
            </a:avLst>
          </a:prstGeom>
        </p:spPr>
      </p:pic>
      <p:sp>
        <p:nvSpPr>
          <p:cNvPr id="11" name="Text 8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as of 25 Aug, 09:30 CT. Today’s session is still open (16.5 of 23 hours), so today’s numbers can still move.</a:t>
            </a:r>
            <a:endParaRPr lang="en-US" sz="1200" dirty="0"/>
          </a:p>
        </p:txBody>
      </p:sp>
      <p:pic>
        <p:nvPicPr>
          <p:cNvPr id="12" name="Image 1" descr="ArrowFin lo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363200" y="304800"/>
            <a:ext cx="101600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9156700" cy="445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22"/>
              </a:lnSpc>
              <a:buNone/>
            </a:pPr>
            <a:r>
              <a:rPr lang="en-US" sz="3020" b="1" i="0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Today’s ten, worst first</a:t>
            </a:r>
            <a:endParaRPr lang="en-US" sz="302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97489"/>
          <a:ext cx="6974840" cy="4618990"/>
        </p:xfrm>
        <a:graphic>
          <a:graphicData uri="http://schemas.openxmlformats.org/drawingml/2006/table">
            <a:tbl>
              <a:tblPr/>
              <a:tblGrid>
                <a:gridCol w="418490"/>
                <a:gridCol w="1115974"/>
                <a:gridCol w="1394968"/>
                <a:gridCol w="1394968"/>
                <a:gridCol w="1255471"/>
                <a:gridCol w="1394968"/>
              </a:tblGrid>
              <a:tr h="5880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Trader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Today (USD)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Usual swings below normal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Size vs. normal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Worst day so far?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EF7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T-011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−759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1.0×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T-018 (3 accts)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−1,517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11×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01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T-019 (2 accts)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−1,559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1.1×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T-009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−670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1.2×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T-020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−2,398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1.9×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T-012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−724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1.3×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T-023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−2,486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1.0×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T-044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−560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T-008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−459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T-029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−414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0.8×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A63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02600" y="1487329"/>
            <a:ext cx="3276600" cy="1602740"/>
          </a:xfrm>
          <a:prstGeom prst="roundRect">
            <a:avLst>
              <a:gd name="adj" fmla="val 6339"/>
            </a:avLst>
          </a:prstGeom>
          <a:solidFill>
            <a:srgbClr val="E3EEF7"/>
          </a:solidFill>
          <a:ln/>
        </p:spPr>
      </p:sp>
      <p:sp>
        <p:nvSpPr>
          <p:cNvPr id="5" name="Text 2"/>
          <p:cNvSpPr/>
          <p:nvPr/>
        </p:nvSpPr>
        <p:spPr>
          <a:xfrm>
            <a:off x="8305800" y="1690529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 new to rank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05800" y="1995329"/>
            <a:ext cx="2956306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T-024 (−$1,580, first day, 38 contracts), T-025 (account balance $0), T-026. No history means no “normal”: review by hand.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102600" y="3242469"/>
            <a:ext cx="3276600" cy="1379855"/>
          </a:xfrm>
          <a:prstGeom prst="roundRect">
            <a:avLst>
              <a:gd name="adj" fmla="val 7363"/>
            </a:avLst>
          </a:prstGeom>
          <a:solidFill>
            <a:srgbClr val="EEEFF5"/>
          </a:solidFill>
          <a:ln/>
        </p:spPr>
      </p:sp>
      <p:sp>
        <p:nvSpPr>
          <p:cNvPr id="8" name="Text 5"/>
          <p:cNvSpPr/>
          <p:nvPr/>
        </p:nvSpPr>
        <p:spPr>
          <a:xfrm>
            <a:off x="8305800" y="3445669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this is not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05800" y="3750469"/>
            <a:ext cx="2956306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D1A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a prediction of liquidation. “Normal” rests on 11 sessions. A flag is a reason to look, not a verdict.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 of commissions; open positions valued at 09:30 CT marks. Size = contracts traded today vs. that trader’s usual session.</a:t>
            </a:r>
            <a:endParaRPr lang="en-US" sz="1200" dirty="0"/>
          </a:p>
        </p:txBody>
      </p:sp>
      <p:pic>
        <p:nvPicPr>
          <p:cNvPr id="11" name="Image 0" descr="ArrowFi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63200" y="304800"/>
            <a:ext cx="1016000" cy="939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aders in trouble">
  <a:themeElements>
    <a:clrScheme name="Traders in trouble">
      <a:dk1>
        <a:srgbClr val="4A4F6A"/>
      </a:dk1>
      <a:lt1>
        <a:srgbClr val="F6F7FB"/>
      </a:lt1>
      <a:dk2>
        <a:srgbClr val="75798E"/>
      </a:dk2>
      <a:lt2>
        <a:srgbClr val="E5E6ED"/>
      </a:lt2>
      <a:accent1>
        <a:srgbClr val="1D1A63"/>
      </a:accent1>
      <a:accent2>
        <a:srgbClr val="2F5495"/>
      </a:accent2>
      <a:accent3>
        <a:srgbClr val="9AA0A6"/>
      </a:accent3>
      <a:accent4>
        <a:srgbClr val="8F92A4"/>
      </a:accent4>
      <a:accent5>
        <a:srgbClr val="A9ABBA"/>
      </a:accent5>
      <a:accent6>
        <a:srgbClr val="C2C5D0"/>
      </a:accent6>
      <a:hlink>
        <a:srgbClr val="0563C1"/>
      </a:hlink>
      <a:folHlink>
        <a:srgbClr val="954F72"/>
      </a:folHlink>
    </a:clrScheme>
    <a:fontScheme name="Traders in troubl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Traders in trouble</dc:title>
  <dc:subject/>
  <dc:creator/>
  <cp:lastModifiedBy/>
  <cp:revision>1</cp:revision>
  <dcterms:created xsi:type="dcterms:W3CDTF">2026-10-23T15:49:50Z</dcterms:created>
  <dcterms:modified xsi:type="dcterms:W3CDTF">2026-10-23T15:49:50Z</dcterms:modified>
</cp:coreProperties>
</file>